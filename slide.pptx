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6858000" cx="12192000"/>
  <p:notesSz cx="6858000" cy="9144000"/>
  <p:embeddedFontLst>
    <p:embeddedFont>
      <p:font typeface="Poppins"/>
      <p:regular r:id="rId20"/>
      <p:bold r:id="rId21"/>
      <p:italic r:id="rId22"/>
      <p:boldItalic r:id="rId23"/>
    </p:embeddedFont>
    <p:embeddedFont>
      <p:font typeface="Inter"/>
      <p:regular r:id="rId24"/>
      <p:bold r:id="rId25"/>
      <p:italic r:id="rId26"/>
      <p:boldItalic r:id="rId27"/>
    </p:embeddedFont>
    <p:embeddedFont>
      <p:font typeface="Lato"/>
      <p:regular r:id="rId28"/>
      <p:bold r:id="rId29"/>
      <p:italic r:id="rId30"/>
      <p:boldItalic r:id="rId31"/>
    </p:embeddedFont>
    <p:embeddedFont>
      <p:font typeface="Montserrat"/>
      <p:regular r:id="rId32"/>
      <p:bold r:id="rId33"/>
      <p:italic r:id="rId34"/>
      <p:boldItalic r:id="rId35"/>
    </p:embeddedFont>
    <p:embeddedFont>
      <p:font typeface="Space Grotesk SemiBold"/>
      <p:regular r:id="rId36"/>
      <p:bold r:id="rId37"/>
    </p:embeddedFont>
    <p:embeddedFont>
      <p:font typeface="Space Grotesk"/>
      <p:regular r:id="rId38"/>
      <p:bold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1EC358D-2EAE-4EC4-A893-64E694181085}">
  <a:tblStyle styleId="{21EC358D-2EAE-4EC4-A893-64E69418108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25F93D60-7940-43D1-9BFB-CD4CFB779EE2}" styleName="Table_1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rgbClr val="FFFFFF"/>
      </a:tcTxStyle>
      <a:tcStyle>
        <a:fill>
          <a:solidFill>
            <a:srgbClr val="4F81BD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fill>
          <a:solidFill>
            <a:srgbClr val="4F81BD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top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4F81BD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bottom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4F81BD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-regular.fntdata"/><Relationship Id="rId22" Type="http://schemas.openxmlformats.org/officeDocument/2006/relationships/font" Target="fonts/Poppins-italic.fntdata"/><Relationship Id="rId21" Type="http://schemas.openxmlformats.org/officeDocument/2006/relationships/font" Target="fonts/Poppins-bold.fntdata"/><Relationship Id="rId24" Type="http://schemas.openxmlformats.org/officeDocument/2006/relationships/font" Target="fonts/Inter-regular.fntdata"/><Relationship Id="rId23" Type="http://schemas.openxmlformats.org/officeDocument/2006/relationships/font" Target="fonts/Poppins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-italic.fntdata"/><Relationship Id="rId25" Type="http://schemas.openxmlformats.org/officeDocument/2006/relationships/font" Target="fonts/Inter-bold.fntdata"/><Relationship Id="rId28" Type="http://schemas.openxmlformats.org/officeDocument/2006/relationships/font" Target="fonts/Lato-regular.fntdata"/><Relationship Id="rId27" Type="http://schemas.openxmlformats.org/officeDocument/2006/relationships/font" Target="fonts/Inter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Lato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Lato-boldItalic.fntdata"/><Relationship Id="rId30" Type="http://schemas.openxmlformats.org/officeDocument/2006/relationships/font" Target="fonts/Lato-italic.fntdata"/><Relationship Id="rId11" Type="http://schemas.openxmlformats.org/officeDocument/2006/relationships/slide" Target="slides/slide5.xml"/><Relationship Id="rId33" Type="http://schemas.openxmlformats.org/officeDocument/2006/relationships/font" Target="fonts/Montserrat-bold.fntdata"/><Relationship Id="rId10" Type="http://schemas.openxmlformats.org/officeDocument/2006/relationships/slide" Target="slides/slide4.xml"/><Relationship Id="rId32" Type="http://schemas.openxmlformats.org/officeDocument/2006/relationships/font" Target="fonts/Montserrat-regular.fntdata"/><Relationship Id="rId13" Type="http://schemas.openxmlformats.org/officeDocument/2006/relationships/slide" Target="slides/slide7.xml"/><Relationship Id="rId35" Type="http://schemas.openxmlformats.org/officeDocument/2006/relationships/font" Target="fonts/Montserrat-boldItalic.fntdata"/><Relationship Id="rId12" Type="http://schemas.openxmlformats.org/officeDocument/2006/relationships/slide" Target="slides/slide6.xml"/><Relationship Id="rId34" Type="http://schemas.openxmlformats.org/officeDocument/2006/relationships/font" Target="fonts/Montserrat-italic.fntdata"/><Relationship Id="rId15" Type="http://schemas.openxmlformats.org/officeDocument/2006/relationships/slide" Target="slides/slide9.xml"/><Relationship Id="rId37" Type="http://schemas.openxmlformats.org/officeDocument/2006/relationships/font" Target="fonts/SpaceGroteskSemiBold-bold.fntdata"/><Relationship Id="rId14" Type="http://schemas.openxmlformats.org/officeDocument/2006/relationships/slide" Target="slides/slide8.xml"/><Relationship Id="rId36" Type="http://schemas.openxmlformats.org/officeDocument/2006/relationships/font" Target="fonts/SpaceGroteskSemiBold-regular.fntdata"/><Relationship Id="rId17" Type="http://schemas.openxmlformats.org/officeDocument/2006/relationships/slide" Target="slides/slide11.xml"/><Relationship Id="rId39" Type="http://schemas.openxmlformats.org/officeDocument/2006/relationships/font" Target="fonts/SpaceGrotesk-bold.fntdata"/><Relationship Id="rId16" Type="http://schemas.openxmlformats.org/officeDocument/2006/relationships/slide" Target="slides/slide10.xml"/><Relationship Id="rId38" Type="http://schemas.openxmlformats.org/officeDocument/2006/relationships/font" Target="fonts/SpaceGrotesk-regular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9541d8b1eb_0_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9541d8b1eb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cb0fbb876a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g3cb0fbb876a_0_6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cb0fbb876a_0_1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g3cb0fbb876a_0_15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10.png"/><Relationship Id="rId6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1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19.png"/><Relationship Id="rId11" Type="http://schemas.openxmlformats.org/officeDocument/2006/relationships/image" Target="../media/image30.png"/><Relationship Id="rId10" Type="http://schemas.openxmlformats.org/officeDocument/2006/relationships/image" Target="../media/image11.png"/><Relationship Id="rId12" Type="http://schemas.openxmlformats.org/officeDocument/2006/relationships/image" Target="../media/image16.png"/><Relationship Id="rId9" Type="http://schemas.openxmlformats.org/officeDocument/2006/relationships/image" Target="../media/image12.png"/><Relationship Id="rId5" Type="http://schemas.openxmlformats.org/officeDocument/2006/relationships/image" Target="../media/image15.png"/><Relationship Id="rId6" Type="http://schemas.openxmlformats.org/officeDocument/2006/relationships/image" Target="../media/image18.png"/><Relationship Id="rId7" Type="http://schemas.openxmlformats.org/officeDocument/2006/relationships/image" Target="../media/image31.png"/><Relationship Id="rId8" Type="http://schemas.openxmlformats.org/officeDocument/2006/relationships/image" Target="../media/image2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7.png"/><Relationship Id="rId5" Type="http://schemas.openxmlformats.org/officeDocument/2006/relationships/image" Target="../media/image3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9.png"/><Relationship Id="rId4" Type="http://schemas.openxmlformats.org/officeDocument/2006/relationships/image" Target="../media/image32.png"/><Relationship Id="rId5" Type="http://schemas.openxmlformats.org/officeDocument/2006/relationships/image" Target="../media/image26.png"/><Relationship Id="rId6" Type="http://schemas.openxmlformats.org/officeDocument/2006/relationships/image" Target="../media/image3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8.png"/><Relationship Id="rId4" Type="http://schemas.openxmlformats.org/officeDocument/2006/relationships/image" Target="../media/image14.png"/><Relationship Id="rId11" Type="http://schemas.openxmlformats.org/officeDocument/2006/relationships/image" Target="../media/image23.png"/><Relationship Id="rId10" Type="http://schemas.openxmlformats.org/officeDocument/2006/relationships/image" Target="../media/image33.png"/><Relationship Id="rId9" Type="http://schemas.openxmlformats.org/officeDocument/2006/relationships/image" Target="../media/image20.png"/><Relationship Id="rId5" Type="http://schemas.openxmlformats.org/officeDocument/2006/relationships/image" Target="../media/image24.png"/><Relationship Id="rId6" Type="http://schemas.openxmlformats.org/officeDocument/2006/relationships/image" Target="../media/image27.png"/><Relationship Id="rId7" Type="http://schemas.openxmlformats.org/officeDocument/2006/relationships/image" Target="../media/image17.png"/><Relationship Id="rId8" Type="http://schemas.openxmlformats.org/officeDocument/2006/relationships/image" Target="../media/image2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36.png"/><Relationship Id="rId5" Type="http://schemas.openxmlformats.org/officeDocument/2006/relationships/image" Target="../media/image25.png"/><Relationship Id="rId6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020365" y="1583084"/>
            <a:ext cx="101514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EmotionLayer</a:t>
            </a:r>
            <a:endParaRPr sz="2600"/>
          </a:p>
        </p:txBody>
      </p:sp>
      <p:sp>
        <p:nvSpPr>
          <p:cNvPr id="87" name="Google Shape;87;p13"/>
          <p:cNvSpPr txBox="1"/>
          <p:nvPr/>
        </p:nvSpPr>
        <p:spPr>
          <a:xfrm>
            <a:off x="1262187" y="2919265"/>
            <a:ext cx="9667800" cy="7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A Multimodal Architecture for Empathic Voice Assistants based on Speech Emotion Recognition and Large Language Models</a:t>
            </a:r>
            <a:endParaRPr>
              <a:solidFill>
                <a:srgbClr val="60A5FA"/>
              </a:solidFill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1262062" y="4208115"/>
            <a:ext cx="9667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E2E8F0"/>
                </a:solidFill>
                <a:latin typeface="Lato"/>
                <a:ea typeface="Lato"/>
                <a:cs typeface="Lato"/>
                <a:sym typeface="Lato"/>
              </a:rPr>
              <a:t>Alessio Bernardini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1262062" y="4570065"/>
            <a:ext cx="9667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Department of Computer Science, University of Milan, Italy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1262062" y="4874865"/>
            <a:ext cx="9667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alessio.bernardini@studenti.unimi.it</a:t>
            </a:r>
            <a:endParaRPr/>
          </a:p>
        </p:txBody>
      </p:sp>
      <p:pic>
        <p:nvPicPr>
          <p:cNvPr descr="image.png" id="91" name="Google Shape;9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3"/>
          <p:cNvSpPr txBox="1"/>
          <p:nvPr/>
        </p:nvSpPr>
        <p:spPr>
          <a:xfrm>
            <a:off x="1020240" y="1127984"/>
            <a:ext cx="10151400" cy="24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6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EmotionLayer</a:t>
            </a:r>
            <a:r>
              <a:rPr b="1" lang="en-US" sz="4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 : </a:t>
            </a:r>
            <a:r>
              <a:rPr b="1" lang="en-US" sz="46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A Multimodal Architecture for Empathic Voice Assistants 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1262062" y="3711215"/>
            <a:ext cx="96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60A5FA"/>
                </a:solidFill>
                <a:latin typeface="Lato"/>
                <a:ea typeface="Lato"/>
                <a:cs typeface="Lato"/>
                <a:sym typeface="Lato"/>
              </a:rPr>
              <a:t>B</a:t>
            </a:r>
            <a:r>
              <a:rPr b="1" lang="en-US" sz="2100">
                <a:solidFill>
                  <a:srgbClr val="60A5FA"/>
                </a:solidFill>
                <a:latin typeface="Lato"/>
                <a:ea typeface="Lato"/>
                <a:cs typeface="Lato"/>
                <a:sym typeface="Lato"/>
              </a:rPr>
              <a:t>ased on Speech Emotion Recognition and Large Language Models</a:t>
            </a:r>
            <a:endParaRPr b="1" sz="2100">
              <a:solidFill>
                <a:srgbClr val="60A5FA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1262062" y="4208115"/>
            <a:ext cx="9667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E2E8F0"/>
                </a:solidFill>
                <a:latin typeface="Lato"/>
                <a:ea typeface="Lato"/>
                <a:cs typeface="Lato"/>
                <a:sym typeface="Lato"/>
              </a:rPr>
              <a:t>Alessio Bernardini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1262062" y="4570065"/>
            <a:ext cx="9667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Department of Computer Science, University of Milan, Italy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1262062" y="4874865"/>
            <a:ext cx="9667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alessio.bernardini@studenti.unimi.it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1" name="Google Shape;10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0236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571500" y="1746888"/>
            <a:ext cx="64197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The Current Paradigm:</a:t>
            </a:r>
            <a:r>
              <a:rPr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Traditional voice systems (ASR → LLM → TTS) and newer Speech-to-Speech (STS) models process speech mainly as text, ignoring its </a:t>
            </a:r>
            <a:r>
              <a:rPr b="1" i="1"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prosodic </a:t>
            </a:r>
            <a:r>
              <a:rPr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and </a:t>
            </a:r>
            <a:r>
              <a:rPr b="1" i="1"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emotional components</a:t>
            </a:r>
            <a:r>
              <a:rPr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35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571500" y="2914263"/>
            <a:ext cx="64197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The Missing Link:</a:t>
            </a:r>
            <a:r>
              <a:rPr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Valuable paralinguistic information such as </a:t>
            </a:r>
            <a:r>
              <a:rPr b="1" i="1"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tone</a:t>
            </a:r>
            <a:r>
              <a:rPr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b="1" i="1"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rhythm</a:t>
            </a:r>
            <a:r>
              <a:rPr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b="1" i="1"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hesitations</a:t>
            </a:r>
            <a:r>
              <a:rPr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, and </a:t>
            </a:r>
            <a:r>
              <a:rPr b="1" i="1"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intensity </a:t>
            </a:r>
            <a:r>
              <a:rPr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is completely lost during transcription.</a:t>
            </a:r>
            <a:endParaRPr sz="135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5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571500" y="3726134"/>
            <a:ext cx="64197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The consequence: </a:t>
            </a:r>
            <a:r>
              <a:rPr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The system “hears” the words but fails to “listen” to the emotional state.</a:t>
            </a:r>
            <a:endParaRPr sz="135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5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571500" y="571500"/>
            <a:ext cx="11601450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The Empathic Gap</a:t>
            </a:r>
            <a:endParaRPr/>
          </a:p>
        </p:txBody>
      </p:sp>
      <p:pic>
        <p:nvPicPr>
          <p:cNvPr id="106" name="Google Shape;106;p14" title="singing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34847" y="1748876"/>
            <a:ext cx="616479" cy="6164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4" title="equalizer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117877" y="4698229"/>
            <a:ext cx="707598" cy="7075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4" title="cpu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030446" y="3170766"/>
            <a:ext cx="821979" cy="82197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9" name="Google Shape;109;p14"/>
          <p:cNvCxnSpPr>
            <a:endCxn id="108" idx="0"/>
          </p:cNvCxnSpPr>
          <p:nvPr/>
        </p:nvCxnSpPr>
        <p:spPr>
          <a:xfrm flipH="1">
            <a:off x="9441436" y="2800866"/>
            <a:ext cx="3300" cy="369900"/>
          </a:xfrm>
          <a:prstGeom prst="straightConnector1">
            <a:avLst/>
          </a:prstGeom>
          <a:noFill/>
          <a:ln cap="flat" cmpd="sng" w="8050">
            <a:solidFill>
              <a:srgbClr val="1F497D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0" name="Google Shape;110;p14"/>
          <p:cNvCxnSpPr/>
          <p:nvPr/>
        </p:nvCxnSpPr>
        <p:spPr>
          <a:xfrm flipH="1">
            <a:off x="9441439" y="4076011"/>
            <a:ext cx="3300" cy="369900"/>
          </a:xfrm>
          <a:prstGeom prst="straightConnector1">
            <a:avLst/>
          </a:prstGeom>
          <a:noFill/>
          <a:ln cap="flat" cmpd="sng" w="8050">
            <a:solidFill>
              <a:srgbClr val="1F497D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1" name="Google Shape;111;p14"/>
          <p:cNvSpPr txBox="1"/>
          <p:nvPr/>
        </p:nvSpPr>
        <p:spPr>
          <a:xfrm>
            <a:off x="9852424" y="1875133"/>
            <a:ext cx="957300" cy="363900"/>
          </a:xfrm>
          <a:prstGeom prst="rect">
            <a:avLst/>
          </a:prstGeom>
          <a:noFill/>
          <a:ln>
            <a:noFill/>
          </a:ln>
        </p:spPr>
        <p:txBody>
          <a:bodyPr anchorCtr="0" anchor="t" bIns="77175" lIns="77175" spcFirstLastPara="1" rIns="77175" wrap="square" tIns="771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35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ASR</a:t>
            </a:r>
            <a:endParaRPr b="1" i="1" sz="13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4"/>
          <p:cNvSpPr txBox="1"/>
          <p:nvPr/>
        </p:nvSpPr>
        <p:spPr>
          <a:xfrm>
            <a:off x="9852424" y="3386412"/>
            <a:ext cx="957300" cy="571800"/>
          </a:xfrm>
          <a:prstGeom prst="rect">
            <a:avLst/>
          </a:prstGeom>
          <a:noFill/>
          <a:ln>
            <a:noFill/>
          </a:ln>
        </p:spPr>
        <p:txBody>
          <a:bodyPr anchorCtr="0" anchor="t" bIns="77175" lIns="77175" spcFirstLastPara="1" rIns="77175" wrap="square" tIns="771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35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LLM</a:t>
            </a:r>
            <a:endParaRPr b="1" i="1" sz="13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13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4"/>
          <p:cNvSpPr txBox="1"/>
          <p:nvPr/>
        </p:nvSpPr>
        <p:spPr>
          <a:xfrm>
            <a:off x="9863764" y="4813715"/>
            <a:ext cx="957300" cy="571800"/>
          </a:xfrm>
          <a:prstGeom prst="rect">
            <a:avLst/>
          </a:prstGeom>
          <a:noFill/>
          <a:ln>
            <a:noFill/>
          </a:ln>
        </p:spPr>
        <p:txBody>
          <a:bodyPr anchorCtr="0" anchor="t" bIns="77175" lIns="77175" spcFirstLastPara="1" rIns="77175" wrap="square" tIns="771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35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TTS</a:t>
            </a:r>
            <a:endParaRPr b="1" i="1" sz="13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13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4"/>
          <p:cNvSpPr txBox="1"/>
          <p:nvPr/>
        </p:nvSpPr>
        <p:spPr>
          <a:xfrm>
            <a:off x="7321346" y="2814782"/>
            <a:ext cx="1313700" cy="571800"/>
          </a:xfrm>
          <a:prstGeom prst="rect">
            <a:avLst/>
          </a:prstGeom>
          <a:noFill/>
          <a:ln>
            <a:noFill/>
          </a:ln>
        </p:spPr>
        <p:txBody>
          <a:bodyPr anchorCtr="0" anchor="t" bIns="77175" lIns="77175" spcFirstLastPara="1" rIns="77175" wrap="square" tIns="771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13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13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4"/>
          <p:cNvSpPr txBox="1"/>
          <p:nvPr/>
        </p:nvSpPr>
        <p:spPr>
          <a:xfrm>
            <a:off x="8811047" y="4432452"/>
            <a:ext cx="1502700" cy="363900"/>
          </a:xfrm>
          <a:prstGeom prst="rect">
            <a:avLst/>
          </a:prstGeom>
          <a:noFill/>
          <a:ln>
            <a:noFill/>
          </a:ln>
        </p:spPr>
        <p:txBody>
          <a:bodyPr anchorCtr="0" anchor="t" bIns="77175" lIns="77175" spcFirstLastPara="1" rIns="77175" wrap="square" tIns="771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35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TEXT-TO-SPEECH</a:t>
            </a:r>
            <a:endParaRPr b="1" i="1" sz="13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4"/>
          <p:cNvSpPr txBox="1"/>
          <p:nvPr/>
        </p:nvSpPr>
        <p:spPr>
          <a:xfrm>
            <a:off x="8765699" y="2401206"/>
            <a:ext cx="1502700" cy="363900"/>
          </a:xfrm>
          <a:prstGeom prst="rect">
            <a:avLst/>
          </a:prstGeom>
          <a:noFill/>
          <a:ln>
            <a:noFill/>
          </a:ln>
        </p:spPr>
        <p:txBody>
          <a:bodyPr anchorCtr="0" anchor="t" bIns="77175" lIns="77175" spcFirstLastPara="1" rIns="77175" wrap="square" tIns="771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35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SPEECH-TO-TEXT</a:t>
            </a:r>
            <a:endParaRPr b="1" i="1" sz="13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4"/>
          <p:cNvSpPr txBox="1"/>
          <p:nvPr/>
        </p:nvSpPr>
        <p:spPr>
          <a:xfrm>
            <a:off x="7999019" y="1057270"/>
            <a:ext cx="39801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Vocal Agent Pipeline</a:t>
            </a:r>
            <a:endParaRPr b="1" i="1" sz="25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4"/>
          <p:cNvSpPr txBox="1"/>
          <p:nvPr/>
        </p:nvSpPr>
        <p:spPr>
          <a:xfrm>
            <a:off x="571500" y="4488955"/>
            <a:ext cx="6419700" cy="16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Real Impact:</a:t>
            </a:r>
            <a:r>
              <a:rPr b="1"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In contexts where understanding the customer’s emotional state is essential, such as customer support, the lack of proper prosodic context leads to standardized, </a:t>
            </a:r>
            <a:r>
              <a:rPr b="1" i="1"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tone-deaf responses</a:t>
            </a:r>
            <a:r>
              <a:rPr lang="en-US" sz="135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, which can cause frustration and dissatisfaction.</a:t>
            </a:r>
            <a:endParaRPr sz="135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50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3" name="Google Shape;12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oogle Shape;12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347936"/>
            <a:ext cx="5286375" cy="502890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1347936"/>
            <a:ext cx="5286375" cy="502890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962025" y="1738461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Research Questions (RQs)</a:t>
            </a:r>
            <a:endParaRPr/>
          </a:p>
        </p:txBody>
      </p:sp>
      <p:sp>
        <p:nvSpPr>
          <p:cNvPr id="127" name="Google Shape;127;p15"/>
          <p:cNvSpPr/>
          <p:nvPr/>
        </p:nvSpPr>
        <p:spPr>
          <a:xfrm>
            <a:off x="962025" y="2224236"/>
            <a:ext cx="450532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6724650" y="1738461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Key Contributions</a:t>
            </a:r>
            <a:endParaRPr/>
          </a:p>
        </p:txBody>
      </p:sp>
      <p:sp>
        <p:nvSpPr>
          <p:cNvPr id="129" name="Google Shape;129;p15"/>
          <p:cNvSpPr/>
          <p:nvPr/>
        </p:nvSpPr>
        <p:spPr>
          <a:xfrm>
            <a:off x="6724650" y="2224236"/>
            <a:ext cx="450532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5"/>
          <p:cNvSpPr txBox="1"/>
          <p:nvPr/>
        </p:nvSpPr>
        <p:spPr>
          <a:xfrm>
            <a:off x="1247775" y="2481411"/>
            <a:ext cx="42195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RQ1: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How effectively can LLMs </a:t>
            </a:r>
            <a:r>
              <a:rPr b="1" i="1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detect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and </a:t>
            </a:r>
            <a:r>
              <a:rPr b="1" i="1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respond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to complex emotions using multimodal input (text + </a:t>
            </a:r>
            <a:r>
              <a:rPr lang="en-US" sz="13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emotional &amp; audio context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)?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1247775" y="3721568"/>
            <a:ext cx="42195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RQ2: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Which LLM architectures offer </a:t>
            </a:r>
            <a:r>
              <a:rPr b="1" i="1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optimal trade-offs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between emotional </a:t>
            </a:r>
            <a:r>
              <a:rPr b="1" i="1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intelligence, latency, and cost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for production?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7010400" y="2481411"/>
            <a:ext cx="42195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Italian SER Models: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Fine-tuning of Wav2Vec 2.0 for discrete </a:t>
            </a:r>
            <a:r>
              <a:rPr b="1" i="1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emotion classification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and continuous </a:t>
            </a:r>
            <a:r>
              <a:rPr b="1" i="1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PAD regression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7010400" y="3494782"/>
            <a:ext cx="4219575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EmotionLayer Architecture: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Fuses text and prosody into a JSON payload ready for downstream LLMs.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7010400" y="4508152"/>
            <a:ext cx="4219500" cy="12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Systematic Benchmark: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Evaluated 18 LLMs on 40 gold-standard scenarios via LLM-as-a-Judge </a:t>
            </a:r>
            <a:r>
              <a:rPr lang="en-US" sz="13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to </a:t>
            </a:r>
            <a:r>
              <a:rPr b="1" i="1" lang="en-US" sz="13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detect the correct user emotion</a:t>
            </a:r>
            <a:r>
              <a:rPr lang="en-US" sz="13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and take the right decision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571500" y="481161"/>
            <a:ext cx="11601450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Questions &amp; Contributions</a:t>
            </a:r>
            <a:endParaRPr/>
          </a:p>
        </p:txBody>
      </p:sp>
      <p:pic>
        <p:nvPicPr>
          <p:cNvPr descr="image.png" id="136" name="Google Shape;136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2025" y="2500461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7" name="Google Shape;137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2025" y="3740618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8" name="Google Shape;138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4650" y="2500461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4650" y="3513832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0" name="Google Shape;140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4650" y="4527202"/>
            <a:ext cx="104775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5" name="Google Shape;14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1347936"/>
            <a:ext cx="5286375" cy="50289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6" name="Google Shape;14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1347936"/>
            <a:ext cx="5286375" cy="502890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/>
          <p:nvPr/>
        </p:nvSpPr>
        <p:spPr>
          <a:xfrm>
            <a:off x="962025" y="1828800"/>
            <a:ext cx="4730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100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Ekman's Categorical Model</a:t>
            </a:r>
            <a:endParaRPr/>
          </a:p>
        </p:txBody>
      </p:sp>
      <p:sp>
        <p:nvSpPr>
          <p:cNvPr id="148" name="Google Shape;148;p16"/>
          <p:cNvSpPr/>
          <p:nvPr/>
        </p:nvSpPr>
        <p:spPr>
          <a:xfrm>
            <a:off x="962025" y="2314575"/>
            <a:ext cx="450532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6"/>
          <p:cNvSpPr txBox="1"/>
          <p:nvPr/>
        </p:nvSpPr>
        <p:spPr>
          <a:xfrm>
            <a:off x="962025" y="2594429"/>
            <a:ext cx="4791900" cy="98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Identifies 6 basic emotions</a:t>
            </a:r>
            <a:r>
              <a:rPr lang="en-US" sz="13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endParaRPr sz="135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45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3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anger, disgust, fear, joy, sadness, </a:t>
            </a:r>
            <a:r>
              <a:rPr i="1" lang="en-US" sz="13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and </a:t>
            </a:r>
            <a:r>
              <a:rPr b="1" i="1" lang="en-US" sz="13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surprise</a:t>
            </a:r>
            <a:endParaRPr b="1" i="1" sz="135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0" name="Google Shape;150;p16"/>
          <p:cNvSpPr txBox="1"/>
          <p:nvPr/>
        </p:nvSpPr>
        <p:spPr>
          <a:xfrm>
            <a:off x="6767750" y="2406443"/>
            <a:ext cx="4505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6"/>
          <p:cNvSpPr txBox="1"/>
          <p:nvPr/>
        </p:nvSpPr>
        <p:spPr>
          <a:xfrm>
            <a:off x="7067957" y="2565433"/>
            <a:ext cx="4219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Valence (V):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Negative (-1) ↔ Positive (+1)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7067957" y="2928171"/>
            <a:ext cx="4219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Arousal (A):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Calm (-1) ↔ Excited (+1)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7067957" y="3302246"/>
            <a:ext cx="4219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Dominance (D):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Submissive (-1) ↔ Dominant (+1)</a:t>
            </a:r>
            <a:endParaRPr/>
          </a:p>
        </p:txBody>
      </p:sp>
      <p:sp>
        <p:nvSpPr>
          <p:cNvPr id="154" name="Google Shape;154;p16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Background </a:t>
            </a:r>
            <a:r>
              <a:rPr b="0" i="0" lang="en-US" sz="3000" u="none" cap="none" strike="noStrike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Emotional Models</a:t>
            </a:r>
            <a:endParaRPr/>
          </a:p>
        </p:txBody>
      </p:sp>
      <p:pic>
        <p:nvPicPr>
          <p:cNvPr descr="image.png" id="155" name="Google Shape;155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82207" y="2595823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82207" y="2947221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7" name="Google Shape;157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82207" y="3321296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6"/>
          <p:cNvPicPr preferRelativeResize="0"/>
          <p:nvPr/>
        </p:nvPicPr>
        <p:blipFill rotWithShape="1">
          <a:blip r:embed="rId6">
            <a:alphaModFix/>
          </a:blip>
          <a:srcRect b="0" l="0" r="52563" t="0"/>
          <a:stretch/>
        </p:blipFill>
        <p:spPr>
          <a:xfrm>
            <a:off x="7944939" y="3891625"/>
            <a:ext cx="2419176" cy="219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6"/>
          <p:cNvPicPr preferRelativeResize="0"/>
          <p:nvPr/>
        </p:nvPicPr>
        <p:blipFill rotWithShape="1">
          <a:blip r:embed="rId6">
            <a:alphaModFix/>
          </a:blip>
          <a:srcRect b="0" l="49731" r="0" t="0"/>
          <a:stretch/>
        </p:blipFill>
        <p:spPr>
          <a:xfrm>
            <a:off x="1884957" y="3809763"/>
            <a:ext cx="2659475" cy="2271915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6"/>
          <p:cNvSpPr txBox="1"/>
          <p:nvPr/>
        </p:nvSpPr>
        <p:spPr>
          <a:xfrm>
            <a:off x="6736682" y="1849500"/>
            <a:ext cx="4730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PAD Dimensional Model</a:t>
            </a:r>
            <a:endParaRPr/>
          </a:p>
        </p:txBody>
      </p:sp>
      <p:sp>
        <p:nvSpPr>
          <p:cNvPr id="161" name="Google Shape;161;p16"/>
          <p:cNvSpPr/>
          <p:nvPr/>
        </p:nvSpPr>
        <p:spPr>
          <a:xfrm>
            <a:off x="6727371" y="2319564"/>
            <a:ext cx="4505400" cy="19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6" name="Google Shape;16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7" name="Google Shape;167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438275"/>
            <a:ext cx="3429000" cy="4848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8" name="Google Shape;168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1500" y="1438275"/>
            <a:ext cx="3429000" cy="4848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9" name="Google Shape;169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91500" y="1438275"/>
            <a:ext cx="3429000" cy="4848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0" name="Google Shape;170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66775" y="1828800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7"/>
          <p:cNvSpPr txBox="1"/>
          <p:nvPr/>
        </p:nvSpPr>
        <p:spPr>
          <a:xfrm>
            <a:off x="866775" y="2733675"/>
            <a:ext cx="2980372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Architectures</a:t>
            </a:r>
            <a:endParaRPr/>
          </a:p>
        </p:txBody>
      </p:sp>
      <p:sp>
        <p:nvSpPr>
          <p:cNvPr id="172" name="Google Shape;172;p17"/>
          <p:cNvSpPr txBox="1"/>
          <p:nvPr/>
        </p:nvSpPr>
        <p:spPr>
          <a:xfrm>
            <a:off x="866775" y="3143250"/>
            <a:ext cx="2838450" cy="12948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Wav2Vec 2.0</a:t>
            </a:r>
            <a:r>
              <a:rPr b="0" i="0" lang="en-US" sz="12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represents the state-of-the-art for self-supervised representations of the speech signal, utilizing advanced Transformer-based architectures.</a:t>
            </a:r>
            <a:endParaRPr/>
          </a:p>
        </p:txBody>
      </p:sp>
      <p:pic>
        <p:nvPicPr>
          <p:cNvPr descr="image.png" id="173" name="Google Shape;173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76775" y="1828800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7"/>
          <p:cNvSpPr txBox="1"/>
          <p:nvPr/>
        </p:nvSpPr>
        <p:spPr>
          <a:xfrm>
            <a:off x="4676775" y="2733675"/>
            <a:ext cx="2980372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Italian Datasets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4676775" y="3143250"/>
            <a:ext cx="2838600" cy="17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Resources are limited. We utilize:</a:t>
            </a:r>
            <a:endParaRPr b="0" i="0" sz="127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EMOVO</a:t>
            </a:r>
            <a:r>
              <a:rPr b="0" i="0" lang="en-US" sz="12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(professional actors), </a:t>
            </a:r>
            <a:r>
              <a:rPr b="1" i="0" lang="en-US" sz="12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Emozionalmente</a:t>
            </a:r>
            <a:r>
              <a:rPr b="0" i="0" lang="en-US" sz="12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(crowdsourced, 6,902 samples)</a:t>
            </a:r>
            <a:endParaRPr sz="1275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AI4SER</a:t>
            </a:r>
            <a:r>
              <a:rPr b="0" i="0" lang="en-US" sz="12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(the only Italian dataset with native PAD annotations).</a:t>
            </a:r>
            <a:endParaRPr/>
          </a:p>
        </p:txBody>
      </p:sp>
      <p:pic>
        <p:nvPicPr>
          <p:cNvPr descr="image.png" id="176" name="Google Shape;176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86775" y="1828800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7"/>
          <p:cNvSpPr txBox="1"/>
          <p:nvPr/>
        </p:nvSpPr>
        <p:spPr>
          <a:xfrm>
            <a:off x="8486775" y="2733675"/>
            <a:ext cx="2980372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Empathic Benchmarks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8486775" y="3143250"/>
            <a:ext cx="2838450" cy="12948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Frameworks like </a:t>
            </a:r>
            <a:r>
              <a:rPr b="1" i="0" lang="en-US" sz="12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EQ-Bench</a:t>
            </a:r>
            <a:r>
              <a:rPr b="0" i="0" lang="en-US" sz="12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and </a:t>
            </a:r>
            <a:r>
              <a:rPr b="1" i="0" lang="en-US" sz="12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EmotionQueen</a:t>
            </a:r>
            <a:r>
              <a:rPr b="0" i="0" lang="en-US" sz="127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evaluate emotional intelligence, empathy generation, and the comprehension of complex dynamics in LLMs.</a:t>
            </a:r>
            <a:endParaRPr/>
          </a:p>
        </p:txBody>
      </p:sp>
      <p:pic>
        <p:nvPicPr>
          <p:cNvPr descr="image.png" id="179" name="Google Shape;179;p1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09650" y="2009775"/>
            <a:ext cx="3810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0" name="Google Shape;180;p1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876800" y="2009775"/>
            <a:ext cx="2667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1" name="Google Shape;181;p1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629650" y="2009775"/>
            <a:ext cx="3810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7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State of the Art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7" name="Google Shape;18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4125" y="1859632"/>
            <a:ext cx="5286375" cy="16147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8" name="Google Shape;188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870971"/>
            <a:ext cx="5290900" cy="1614725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8"/>
          <p:cNvSpPr txBox="1"/>
          <p:nvPr/>
        </p:nvSpPr>
        <p:spPr>
          <a:xfrm>
            <a:off x="571500" y="571500"/>
            <a:ext cx="5550693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System Architecture</a:t>
            </a:r>
            <a:endParaRPr/>
          </a:p>
        </p:txBody>
      </p:sp>
      <p:sp>
        <p:nvSpPr>
          <p:cNvPr id="190" name="Google Shape;190;p18"/>
          <p:cNvSpPr txBox="1"/>
          <p:nvPr/>
        </p:nvSpPr>
        <p:spPr>
          <a:xfrm>
            <a:off x="571500" y="1323175"/>
            <a:ext cx="10309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Parallel Audio Processing: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The system analyzes raw audio streams simultaneously to extract distinct emotional vectors.</a:t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866321" y="2012736"/>
            <a:ext cx="5550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1. Discrete Emotion Classifier</a:t>
            </a:r>
            <a:endParaRPr/>
          </a:p>
        </p:txBody>
      </p:sp>
      <p:sp>
        <p:nvSpPr>
          <p:cNvPr id="192" name="Google Shape;192;p18"/>
          <p:cNvSpPr txBox="1"/>
          <p:nvPr/>
        </p:nvSpPr>
        <p:spPr>
          <a:xfrm>
            <a:off x="866321" y="2498500"/>
            <a:ext cx="43212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Fine-tuned Wav2Vec 2.0 outputs a categorical label (e.g., "Anger: 96%") across 7 primary emotion classes.</a:t>
            </a:r>
            <a:endParaRPr/>
          </a:p>
        </p:txBody>
      </p:sp>
      <p:sp>
        <p:nvSpPr>
          <p:cNvPr id="193" name="Google Shape;193;p18"/>
          <p:cNvSpPr txBox="1"/>
          <p:nvPr/>
        </p:nvSpPr>
        <p:spPr>
          <a:xfrm>
            <a:off x="6582812" y="2001390"/>
            <a:ext cx="5550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2. PAD Prosodic Regressor</a:t>
            </a:r>
            <a:endParaRPr/>
          </a:p>
        </p:txBody>
      </p:sp>
      <p:sp>
        <p:nvSpPr>
          <p:cNvPr id="194" name="Google Shape;194;p18"/>
          <p:cNvSpPr txBox="1"/>
          <p:nvPr/>
        </p:nvSpPr>
        <p:spPr>
          <a:xfrm>
            <a:off x="6582712" y="2487161"/>
            <a:ext cx="43929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Pruned Wav2Vec 2.0 outputs continuous dimensional values (e.g., Arousal: 0.95, Valence: 0.05, Dominance: 0.90).</a:t>
            </a:r>
            <a:endParaRPr/>
          </a:p>
        </p:txBody>
      </p:sp>
      <p:pic>
        <p:nvPicPr>
          <p:cNvPr id="195" name="Google Shape;195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65409" y="3814248"/>
            <a:ext cx="6461175" cy="252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0" name="Google Shape;200;p19"/>
          <p:cNvGraphicFramePr/>
          <p:nvPr/>
        </p:nvGraphicFramePr>
        <p:xfrm>
          <a:off x="581100" y="141634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{21EC358D-2EAE-4EC4-A893-64E694181085}</a:tableStyleId>
              </a:tblPr>
              <a:tblGrid>
                <a:gridCol w="1838300"/>
                <a:gridCol w="1415550"/>
                <a:gridCol w="1841500"/>
                <a:gridCol w="1758950"/>
                <a:gridCol w="1838275"/>
                <a:gridCol w="2337225"/>
              </a:tblGrid>
              <a:tr h="599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2563E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Emotion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2563E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Status</a:t>
                      </a:r>
                      <a:endParaRPr b="1" i="0" sz="1350" u="none" cap="none" strike="noStrike">
                        <a:solidFill>
                          <a:srgbClr val="2563EB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2563E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Valence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2563E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Arousal</a:t>
                      </a:r>
                      <a:endParaRPr sz="1350">
                        <a:solidFill>
                          <a:srgbClr val="2563EB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2563E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Dominance</a:t>
                      </a:r>
                      <a:endParaRPr sz="1350">
                        <a:solidFill>
                          <a:srgbClr val="2563EB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2563E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Composition</a:t>
                      </a:r>
                      <a:endParaRPr sz="1350">
                        <a:solidFill>
                          <a:srgbClr val="2563EB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599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Enthusiasm</a:t>
                      </a:r>
                      <a:endParaRPr b="1"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&gt;0.6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&gt;0.6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≈0.5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Joy + Surprise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</a:tr>
              <a:tr h="599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Satisfaction</a:t>
                      </a:r>
                      <a:endParaRPr b="1"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&gt;0.6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≈0.5 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≈0.5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Joy + Good Text 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2E8F0"/>
                    </a:solidFill>
                  </a:tcPr>
                </a:tc>
              </a:tr>
              <a:tr h="599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Uncertainty</a:t>
                      </a:r>
                      <a:endParaRPr b="1"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&lt;0.5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≈0.5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&lt;0.5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Fear + Surprise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</a:tr>
              <a:tr h="599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Frustration</a:t>
                      </a:r>
                      <a:endParaRPr b="1"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&lt;0.4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&gt;0.6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&lt;0.5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Anger + Sadness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CF4"/>
                    </a:solidFill>
                  </a:tcPr>
                </a:tc>
              </a:tr>
              <a:tr h="599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Sarcasm</a:t>
                      </a:r>
                      <a:endParaRPr b="1"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≈0.5 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≈0.5 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≈0.5 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Discrepancy: Text vs Audio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</a:tr>
              <a:tr h="599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Urgency</a:t>
                      </a:r>
                      <a:endParaRPr b="1"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&lt;0.4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&gt;0.8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&lt;0.5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Fear + Anger 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CF4"/>
                    </a:solidFill>
                  </a:tcPr>
                </a:tc>
              </a:tr>
              <a:tr h="599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Insecurity</a:t>
                      </a:r>
                      <a:endParaRPr b="1"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&lt;0.4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&lt;0.4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&lt;0.3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Fear + Sadness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</a:tr>
            </a:tbl>
          </a:graphicData>
        </a:graphic>
      </p:graphicFrame>
      <p:sp>
        <p:nvSpPr>
          <p:cNvPr id="201" name="Google Shape;201;p19"/>
          <p:cNvSpPr/>
          <p:nvPr/>
        </p:nvSpPr>
        <p:spPr>
          <a:xfrm>
            <a:off x="8853338" y="2098327"/>
            <a:ext cx="27576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9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Emotion Taxonomy</a:t>
            </a:r>
            <a:endParaRPr/>
          </a:p>
        </p:txBody>
      </p:sp>
      <p:pic>
        <p:nvPicPr>
          <p:cNvPr id="203" name="Google Shape;203;p19" title="angr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52939" y="4012293"/>
            <a:ext cx="238575" cy="23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19" title="sad-fac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2652939" y="5192940"/>
            <a:ext cx="238575" cy="23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9" title="sad-fac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2664278" y="5787583"/>
            <a:ext cx="238575" cy="23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9" title="happy-fac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641588" y="2210700"/>
            <a:ext cx="238575" cy="23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9" title="happy-fac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641588" y="2819325"/>
            <a:ext cx="238575" cy="23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19" title="smiley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52939" y="3398800"/>
            <a:ext cx="238575" cy="23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19" title="sad-fac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2652939" y="4591274"/>
            <a:ext cx="238575" cy="238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0"/>
          <p:cNvGraphicFramePr/>
          <p:nvPr/>
        </p:nvGraphicFramePr>
        <p:xfrm>
          <a:off x="581013" y="139109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{21EC358D-2EAE-4EC4-A893-64E694181085}</a:tableStyleId>
              </a:tblPr>
              <a:tblGrid>
                <a:gridCol w="2523625"/>
                <a:gridCol w="3498250"/>
                <a:gridCol w="1246375"/>
                <a:gridCol w="1646275"/>
                <a:gridCol w="2115450"/>
              </a:tblGrid>
              <a:tr h="686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2563E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Target Strategy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2563E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Emotion Target</a:t>
                      </a:r>
                      <a:endParaRPr b="1" i="0" sz="1350" u="none" cap="none" strike="noStrike">
                        <a:solidFill>
                          <a:srgbClr val="2563EB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2563E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Speed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2563E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Tone</a:t>
                      </a:r>
                      <a:endParaRPr b="1" i="0" sz="1350" u="none" cap="none" strike="noStrike">
                        <a:solidFill>
                          <a:srgbClr val="2563EB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2563E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Pitch</a:t>
                      </a:r>
                      <a:endParaRPr sz="1350">
                        <a:solidFill>
                          <a:srgbClr val="2563EB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686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Rapid Resolution</a:t>
                      </a:r>
                      <a:endParaRPr b="1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Urgency</a:t>
                      </a: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endParaRPr i="0" sz="1350" u="none" cap="none" strike="noStrike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1.25x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Professional</a:t>
                      </a:r>
                      <a:endParaRPr b="0" i="0" sz="1350" u="none" cap="none" strike="noStrike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default</a:t>
                      </a:r>
                      <a:endParaRPr b="0" i="0" sz="1350" u="none" cap="none" strike="noStrike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6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Assertive Neutrality</a:t>
                      </a:r>
                      <a:endParaRPr b="1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Sarcasm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1.00x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Professional</a:t>
                      </a:r>
                      <a:endParaRPr b="0" i="0" sz="1350" u="none" cap="none" strike="noStrike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low</a:t>
                      </a:r>
                      <a:endParaRPr b="0" i="0" sz="1350" u="none" cap="none" strike="noStrike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6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Active De-escalation</a:t>
                      </a:r>
                      <a:endParaRPr b="1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Anger, </a:t>
                      </a: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Frustration, Disgust</a:t>
                      </a:r>
                      <a:endParaRPr i="0" sz="1350" u="none" cap="none" strike="noStrike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0.80x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Apologetic</a:t>
                      </a:r>
                      <a:endParaRPr b="0" i="0" sz="1350" u="none" cap="none" strike="noStrike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low</a:t>
                      </a:r>
                      <a:endParaRPr b="0" i="0" sz="1350" u="none" cap="none" strike="noStrike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6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Empathic Validation</a:t>
                      </a:r>
                      <a:endParaRPr b="1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Uncertainty, Insecurity, Sadness</a:t>
                      </a:r>
                      <a:endParaRPr i="0" sz="1350" u="none" cap="none" strike="noStrike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0.85x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Empathetic</a:t>
                      </a:r>
                      <a:endParaRPr b="0" i="0" sz="1350" u="none" cap="none" strike="noStrike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low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6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Positive Mirroring</a:t>
                      </a:r>
                      <a:endParaRPr b="1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Enthusiasm, Satisfaction, Joy</a:t>
                      </a:r>
                      <a:endParaRPr i="0" sz="1350" u="none" cap="none" strike="noStrike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1.10x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Cheerful</a:t>
                      </a:r>
                      <a:endParaRPr b="0" i="0" sz="1350" u="none" cap="none" strike="noStrike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high</a:t>
                      </a:r>
                      <a:endParaRPr b="0" i="0" sz="1350" u="none" cap="none" strike="noStrike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6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Direct Efficiency</a:t>
                      </a:r>
                      <a:endParaRPr b="1" i="0" sz="1350" u="none" cap="none" strike="noStrike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Neutral</a:t>
                      </a:r>
                      <a:endParaRPr sz="135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1.00</a:t>
                      </a:r>
                      <a:endParaRPr b="0" i="0" sz="1350" u="none" cap="none" strike="noStrike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Informative</a:t>
                      </a:r>
                      <a:endParaRPr b="0" i="0" sz="1350" u="none" cap="none" strike="noStrike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balance</a:t>
                      </a:r>
                      <a:endParaRPr b="0" i="0" sz="1350" u="none" cap="none" strike="noStrike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15" name="Google Shape;215;p20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Strategy Taxonomy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0" name="Google Shape;22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00450" y="803275"/>
            <a:ext cx="4479025" cy="5653049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21"/>
          <p:cNvSpPr txBox="1"/>
          <p:nvPr/>
        </p:nvSpPr>
        <p:spPr>
          <a:xfrm>
            <a:off x="571500" y="1545268"/>
            <a:ext cx="59487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We evaluated 18 candidate LLMs over 40 gold-standard scenarios using an automated </a:t>
            </a: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LLM-as-a-Judge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methodology (by Claude Opus 4.6).</a:t>
            </a:r>
            <a:endParaRPr/>
          </a:p>
        </p:txBody>
      </p:sp>
      <p:sp>
        <p:nvSpPr>
          <p:cNvPr id="222" name="Google Shape;222;p21"/>
          <p:cNvSpPr txBox="1"/>
          <p:nvPr/>
        </p:nvSpPr>
        <p:spPr>
          <a:xfrm>
            <a:off x="571450" y="2400308"/>
            <a:ext cx="5550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Binary Metrics (40% Weight)</a:t>
            </a:r>
            <a:endParaRPr/>
          </a:p>
        </p:txBody>
      </p:sp>
      <p:sp>
        <p:nvSpPr>
          <p:cNvPr id="223" name="Google Shape;223;p21"/>
          <p:cNvSpPr txBox="1"/>
          <p:nvPr/>
        </p:nvSpPr>
        <p:spPr>
          <a:xfrm>
            <a:off x="571500" y="3852220"/>
            <a:ext cx="5550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Continuous Metrics (60% Weight, Scale 1-5)</a:t>
            </a:r>
            <a:endParaRPr/>
          </a:p>
        </p:txBody>
      </p:sp>
      <p:sp>
        <p:nvSpPr>
          <p:cNvPr id="224" name="Google Shape;224;p21"/>
          <p:cNvSpPr txBox="1"/>
          <p:nvPr/>
        </p:nvSpPr>
        <p:spPr>
          <a:xfrm>
            <a:off x="1215500" y="2823075"/>
            <a:ext cx="51231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Emotion Match (0/1):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Correctly identifying the emotion from multimodal JSON.</a:t>
            </a:r>
            <a:endParaRPr/>
          </a:p>
        </p:txBody>
      </p:sp>
      <p:sp>
        <p:nvSpPr>
          <p:cNvPr id="225" name="Google Shape;225;p21"/>
          <p:cNvSpPr txBox="1"/>
          <p:nvPr/>
        </p:nvSpPr>
        <p:spPr>
          <a:xfrm>
            <a:off x="1225750" y="3429574"/>
            <a:ext cx="5123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Strategy Match (0/1):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Selecting the appropriate strategy.</a:t>
            </a:r>
            <a:endParaRPr/>
          </a:p>
        </p:txBody>
      </p:sp>
      <p:sp>
        <p:nvSpPr>
          <p:cNvPr id="226" name="Google Shape;226;p21"/>
          <p:cNvSpPr txBox="1"/>
          <p:nvPr/>
        </p:nvSpPr>
        <p:spPr>
          <a:xfrm>
            <a:off x="1171250" y="4317493"/>
            <a:ext cx="5000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Relevance: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Technical accuracy of the response.</a:t>
            </a:r>
            <a:endParaRPr/>
          </a:p>
        </p:txBody>
      </p:sp>
      <p:sp>
        <p:nvSpPr>
          <p:cNvPr id="227" name="Google Shape;227;p21"/>
          <p:cNvSpPr txBox="1"/>
          <p:nvPr/>
        </p:nvSpPr>
        <p:spPr>
          <a:xfrm>
            <a:off x="1171250" y="4623533"/>
            <a:ext cx="50007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TTS Alignment: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Consistency of TTS parameters (speed/pitch).</a:t>
            </a:r>
            <a:endParaRPr/>
          </a:p>
        </p:txBody>
      </p:sp>
      <p:sp>
        <p:nvSpPr>
          <p:cNvPr id="228" name="Google Shape;228;p21"/>
          <p:cNvSpPr txBox="1"/>
          <p:nvPr/>
        </p:nvSpPr>
        <p:spPr>
          <a:xfrm>
            <a:off x="1171250" y="5317256"/>
            <a:ext cx="50007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Voice Suitability: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Conciseness and conversational naturalness.</a:t>
            </a:r>
            <a:endParaRPr/>
          </a:p>
        </p:txBody>
      </p:sp>
      <p:sp>
        <p:nvSpPr>
          <p:cNvPr id="229" name="Google Shape;229;p21"/>
          <p:cNvSpPr txBox="1"/>
          <p:nvPr/>
        </p:nvSpPr>
        <p:spPr>
          <a:xfrm>
            <a:off x="1171250" y="5908926"/>
            <a:ext cx="5000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Empathic Response: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Overall quality of empathy expressed.</a:t>
            </a:r>
            <a:endParaRPr/>
          </a:p>
        </p:txBody>
      </p:sp>
      <p:sp>
        <p:nvSpPr>
          <p:cNvPr id="230" name="Google Shape;230;p21"/>
          <p:cNvSpPr txBox="1"/>
          <p:nvPr/>
        </p:nvSpPr>
        <p:spPr>
          <a:xfrm>
            <a:off x="571450" y="566739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Evaluation Framework</a:t>
            </a:r>
            <a:endParaRPr/>
          </a:p>
        </p:txBody>
      </p:sp>
      <p:pic>
        <p:nvPicPr>
          <p:cNvPr descr="image.png" id="231" name="Google Shape;231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754" y="2842121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2" name="Google Shape;232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9990" y="3471308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3" name="Google Shape;233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5975" y="4330963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4" name="Google Shape;234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5975" y="4666328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5" name="Google Shape;235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6839" y="5347645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6" name="Google Shape;236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5500" y="5927976"/>
            <a:ext cx="104775" cy="18097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37" name="Google Shape;237;p21"/>
          <p:cNvGraphicFramePr/>
          <p:nvPr/>
        </p:nvGraphicFramePr>
        <p:xfrm>
          <a:off x="7475262" y="96695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{21EC358D-2EAE-4EC4-A893-64E694181085}</a:tableStyleId>
              </a:tblPr>
              <a:tblGrid>
                <a:gridCol w="2001400"/>
                <a:gridCol w="1922025"/>
              </a:tblGrid>
              <a:tr h="28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350">
                          <a:solidFill>
                            <a:srgbClr val="2563E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Model</a:t>
                      </a:r>
                      <a:r>
                        <a:rPr lang="en-US" sz="15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2563E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Provider</a:t>
                      </a:r>
                      <a:r>
                        <a:rPr lang="en-US" sz="1500">
                          <a:solidFill>
                            <a:schemeClr val="dk1"/>
                          </a:solidFill>
                        </a:rPr>
                        <a:t> </a:t>
                      </a:r>
                      <a:endParaRPr b="1" i="0" sz="1350" u="none" cap="none" strike="noStrike">
                        <a:solidFill>
                          <a:srgbClr val="2563EB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Gpt-5-mini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OpenAI 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Gpt-5.2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OpenAI 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Gpt-4.1-mini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OpenAI 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Gpt-4.1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OpenAI 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Qwen2.5-7B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HuggingFace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Qwen2.5-72B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HuggingFace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Mistral-7B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HuggingFace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Gpt-oss-120b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Groq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Gpt-oss-20b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Groq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LLama-3.1-8b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Groq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LLama-3.3-70b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Groq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Qwen3-32b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Groq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Claude-sonnet-4-5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Anthropic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Claude-haiku-4-5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Anthropic 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Claude-opus-4-5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Anthropic 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Gemini-2.5-flash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Google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Gemini-2.5-pro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Google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Gemini-2.5-flash-lite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>
                          <a:latin typeface="Inter"/>
                          <a:ea typeface="Inter"/>
                          <a:cs typeface="Inter"/>
                          <a:sym typeface="Inter"/>
                        </a:rPr>
                        <a:t>Google</a:t>
                      </a:r>
                      <a:endParaRPr sz="120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2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Model Performance Results</a:t>
            </a:r>
            <a:endParaRPr sz="3000">
              <a:solidFill>
                <a:srgbClr val="2563EB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graphicFrame>
        <p:nvGraphicFramePr>
          <p:cNvPr id="243" name="Google Shape;243;p22"/>
          <p:cNvGraphicFramePr/>
          <p:nvPr/>
        </p:nvGraphicFramePr>
        <p:xfrm>
          <a:off x="548821" y="1306739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{25F93D60-7940-43D1-9BFB-CD4CFB779EE2}</a:tableStyleId>
              </a:tblPr>
              <a:tblGrid>
                <a:gridCol w="1822725"/>
                <a:gridCol w="2820575"/>
                <a:gridCol w="1845400"/>
                <a:gridCol w="2162900"/>
                <a:gridCol w="2162900"/>
              </a:tblGrid>
              <a:tr h="341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2563E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Provider</a:t>
                      </a:r>
                      <a:endParaRPr b="0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2563E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Models</a:t>
                      </a:r>
                      <a:endParaRPr sz="1350">
                        <a:solidFill>
                          <a:srgbClr val="2563EB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2563E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Score</a:t>
                      </a:r>
                      <a:endParaRPr sz="1350">
                        <a:solidFill>
                          <a:srgbClr val="2563EB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2563E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Latenza (s)</a:t>
                      </a:r>
                      <a:endParaRPr sz="1350">
                        <a:solidFill>
                          <a:srgbClr val="2563EB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2563E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Costo ($)</a:t>
                      </a:r>
                      <a:endParaRPr sz="1350">
                        <a:solidFill>
                          <a:srgbClr val="2563EB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341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Gem</a:t>
                      </a: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ini  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190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    </a:t>
                      </a:r>
                      <a:r>
                        <a:rPr b="1"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gemini-2.5-flash</a:t>
                      </a:r>
                      <a:endParaRPr b="1"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22860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91.70</a:t>
                      </a:r>
                      <a:endParaRPr b="1"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4.328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0.001000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1143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</a:tr>
              <a:tr h="341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Gemini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190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gemini-2.5-pro</a:t>
                      </a:r>
                      <a:endParaRPr b="1"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90.50</a:t>
                      </a:r>
                      <a:endParaRPr b="1"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10.617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0.003944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1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OpenAI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3143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gpt-4.1-2025-04-14</a:t>
                      </a:r>
                      <a:endParaRPr b="1"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90.30</a:t>
                      </a:r>
                      <a:endParaRPr b="1"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3.769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0.004647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</a:tr>
              <a:tr h="341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Anthropic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claude-sonnet-4-5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89.46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8.475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0.010305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1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Anthropic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claude-opus-4-5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87.64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8.270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0.016995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</a:tr>
              <a:tr h="341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Groq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openai/gpt-oss-120b</a:t>
                      </a:r>
                      <a:endParaRPr b="1"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87.10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1.594</a:t>
                      </a:r>
                      <a:endParaRPr b="1"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0.000633</a:t>
                      </a:r>
                      <a:endParaRPr b="1"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1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Groq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qwen/qwen3-32b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86.20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1.623</a:t>
                      </a:r>
                      <a:endParaRPr b="1"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0.000819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</a:tr>
              <a:tr h="341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HuggingFace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Qwen2.5-72B-Instruct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85.60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8.927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0.000647</a:t>
                      </a:r>
                      <a:endParaRPr b="1"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1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Gemini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gemini-2.5-flash-lite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85.40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1.494</a:t>
                      </a:r>
                      <a:endParaRPr b="1"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0.000235</a:t>
                      </a:r>
                      <a:endParaRPr b="1"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</a:tr>
              <a:tr h="341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Groq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openai/gpt-oss-20b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84.00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1.041</a:t>
                      </a:r>
                      <a:endParaRPr b="1"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0.000364</a:t>
                      </a:r>
                      <a:endParaRPr b="1"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1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OpenAI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gpt-4.1-mini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82.75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3.362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0.000909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</a:tr>
              <a:tr h="341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Groq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llama-3.3-70b-versatile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82.60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0.758</a:t>
                      </a:r>
                      <a:endParaRPr b="1"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0.001051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1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OpenAI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gpt-5-mini-2025-08-07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80.30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19.667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0.003060</a:t>
                      </a:r>
                      <a:endParaRPr sz="1300">
                        <a:solidFill>
                          <a:srgbClr val="334155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FD7E7"/>
                    </a:solidFill>
                  </a:tcPr>
                </a:tc>
              </a:tr>
              <a:tr h="341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Anthropic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claude-haiku-4-5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80.06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3.909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0.003355</a:t>
                      </a:r>
                      <a:endParaRPr sz="13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8" name="Google Shape;24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1676400"/>
            <a:ext cx="3479750" cy="343822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9" name="Google Shape;249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56050" y="1676400"/>
            <a:ext cx="3479750" cy="343822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0" name="Google Shape;250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40600" y="1676400"/>
            <a:ext cx="3479899" cy="343822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1" name="Google Shape;251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57250" y="209550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23"/>
          <p:cNvSpPr txBox="1"/>
          <p:nvPr/>
        </p:nvSpPr>
        <p:spPr>
          <a:xfrm>
            <a:off x="857250" y="3086100"/>
            <a:ext cx="3053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Leadership Gemini</a:t>
            </a:r>
            <a:endParaRPr/>
          </a:p>
        </p:txBody>
      </p:sp>
      <p:sp>
        <p:nvSpPr>
          <p:cNvPr id="253" name="Google Shape;253;p23"/>
          <p:cNvSpPr txBox="1"/>
          <p:nvPr/>
        </p:nvSpPr>
        <p:spPr>
          <a:xfrm>
            <a:off x="857250" y="3514725"/>
            <a:ext cx="2908200" cy="14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Gemini 2.5 Flash-Preview</a:t>
            </a:r>
            <a:r>
              <a:rPr lang="en-US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(91.70) and </a:t>
            </a:r>
            <a:r>
              <a:rPr b="1" lang="en-US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Pro </a:t>
            </a:r>
            <a:r>
              <a:rPr lang="en-US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(90.50) dominate in terms of quality, achieving the highest overall scores and even outperforming OpenAI solutions.</a:t>
            </a:r>
            <a:endParaRPr sz="12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254" name="Google Shape;254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41800" y="209550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3"/>
          <p:cNvSpPr txBox="1"/>
          <p:nvPr/>
        </p:nvSpPr>
        <p:spPr>
          <a:xfrm>
            <a:off x="4641800" y="3086100"/>
            <a:ext cx="3053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Extreme Speed</a:t>
            </a:r>
            <a:endParaRPr/>
          </a:p>
        </p:txBody>
      </p:sp>
      <p:sp>
        <p:nvSpPr>
          <p:cNvPr id="256" name="Google Shape;256;p23"/>
          <p:cNvSpPr txBox="1"/>
          <p:nvPr/>
        </p:nvSpPr>
        <p:spPr>
          <a:xfrm>
            <a:off x="4641800" y="3514725"/>
            <a:ext cx="2908200" cy="17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The </a:t>
            </a:r>
            <a:r>
              <a:rPr b="1" lang="en-US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Groq </a:t>
            </a:r>
            <a:r>
              <a:rPr lang="en-US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infrastructure remains unrivalled in terms of latency. The </a:t>
            </a:r>
            <a:r>
              <a:rPr b="1" lang="en-US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llama-3.1-8b-instant</a:t>
            </a:r>
            <a:r>
              <a:rPr lang="en-US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model achieves record-breaking minimum response times of just 0.511 seconds.</a:t>
            </a:r>
            <a:endParaRPr sz="12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257" name="Google Shape;257;p2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426350" y="209550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23"/>
          <p:cNvSpPr txBox="1"/>
          <p:nvPr/>
        </p:nvSpPr>
        <p:spPr>
          <a:xfrm>
            <a:off x="8426350" y="3086100"/>
            <a:ext cx="3053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Cost Efficiency</a:t>
            </a:r>
            <a:endParaRPr/>
          </a:p>
        </p:txBody>
      </p:sp>
      <p:sp>
        <p:nvSpPr>
          <p:cNvPr id="259" name="Google Shape;259;p23"/>
          <p:cNvSpPr txBox="1"/>
          <p:nvPr/>
        </p:nvSpPr>
        <p:spPr>
          <a:xfrm>
            <a:off x="8426350" y="3514725"/>
            <a:ext cx="2908500" cy="14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Gemini 2.5 Flash-Lite </a:t>
            </a:r>
            <a:r>
              <a:rPr lang="en-US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stands out for its exceptional value for money: a solid score (85.40) combined with extremely low operating costs ($0.000235).</a:t>
            </a:r>
            <a:endParaRPr sz="12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260" name="Google Shape;260;p2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23937" y="2286000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1" name="Google Shape;261;p2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832300" y="2286000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2" name="Google Shape;262;p23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593038" y="228600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3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Model Performance Results</a:t>
            </a:r>
            <a:endParaRPr sz="3000">
              <a:solidFill>
                <a:srgbClr val="2563EB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8" name="Google Shape;26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9" name="Google Shape;26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438275"/>
            <a:ext cx="5286375" cy="4848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0" name="Google Shape;270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1438275"/>
            <a:ext cx="5286375" cy="4848225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4"/>
          <p:cNvSpPr txBox="1"/>
          <p:nvPr/>
        </p:nvSpPr>
        <p:spPr>
          <a:xfrm>
            <a:off x="962025" y="1828800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Key Conclusions</a:t>
            </a:r>
            <a:endParaRPr/>
          </a:p>
        </p:txBody>
      </p:sp>
      <p:sp>
        <p:nvSpPr>
          <p:cNvPr id="272" name="Google Shape;272;p24"/>
          <p:cNvSpPr/>
          <p:nvPr/>
        </p:nvSpPr>
        <p:spPr>
          <a:xfrm>
            <a:off x="962025" y="2314575"/>
            <a:ext cx="450532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4"/>
          <p:cNvSpPr txBox="1"/>
          <p:nvPr/>
        </p:nvSpPr>
        <p:spPr>
          <a:xfrm>
            <a:off x="6724650" y="1828800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Future Work</a:t>
            </a:r>
            <a:endParaRPr/>
          </a:p>
        </p:txBody>
      </p:sp>
      <p:sp>
        <p:nvSpPr>
          <p:cNvPr id="274" name="Google Shape;274;p24"/>
          <p:cNvSpPr/>
          <p:nvPr/>
        </p:nvSpPr>
        <p:spPr>
          <a:xfrm>
            <a:off x="6724650" y="2314575"/>
            <a:ext cx="450532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4"/>
          <p:cNvSpPr txBox="1"/>
          <p:nvPr/>
        </p:nvSpPr>
        <p:spPr>
          <a:xfrm>
            <a:off x="1247775" y="2571750"/>
            <a:ext cx="4219575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Bridging the Gap: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Solving the "Empathic Gap" in voice assistants is technically viable in production by injecting paralinguistic data pre-LLM.</a:t>
            </a:r>
            <a:endParaRPr/>
          </a:p>
        </p:txBody>
      </p:sp>
      <p:sp>
        <p:nvSpPr>
          <p:cNvPr id="276" name="Google Shape;276;p24"/>
          <p:cNvSpPr txBox="1"/>
          <p:nvPr/>
        </p:nvSpPr>
        <p:spPr>
          <a:xfrm>
            <a:off x="1247775" y="3838759"/>
            <a:ext cx="4219500" cy="12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Voice Suitability Matters: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LLMs optimized purely for complex reasoning (e.g., GPT-5) often generate overly verbose text that ruins conversational TTS naturalness.</a:t>
            </a:r>
            <a:endParaRPr/>
          </a:p>
        </p:txBody>
      </p:sp>
      <p:sp>
        <p:nvSpPr>
          <p:cNvPr id="277" name="Google Shape;277;p24"/>
          <p:cNvSpPr txBox="1"/>
          <p:nvPr/>
        </p:nvSpPr>
        <p:spPr>
          <a:xfrm>
            <a:off x="7010400" y="2571750"/>
            <a:ext cx="4219575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SER Improvements: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Enhance the current Speech Emotion Recognition accuracy (66.81%) by fine-tuning on spontaneous, non-acted speech datasets.</a:t>
            </a:r>
            <a:endParaRPr/>
          </a:p>
        </p:txBody>
      </p:sp>
      <p:sp>
        <p:nvSpPr>
          <p:cNvPr id="278" name="Google Shape;278;p24"/>
          <p:cNvSpPr txBox="1"/>
          <p:nvPr/>
        </p:nvSpPr>
        <p:spPr>
          <a:xfrm>
            <a:off x="7010400" y="3859410"/>
            <a:ext cx="4219575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Human Evaluation: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Expand the LLM benchmark with multi-rater human evaluations on live interactions.</a:t>
            </a:r>
            <a:endParaRPr/>
          </a:p>
        </p:txBody>
      </p:sp>
      <p:sp>
        <p:nvSpPr>
          <p:cNvPr id="279" name="Google Shape;279;p24"/>
          <p:cNvSpPr txBox="1"/>
          <p:nvPr/>
        </p:nvSpPr>
        <p:spPr>
          <a:xfrm>
            <a:off x="7010400" y="4872781"/>
            <a:ext cx="4219575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E2E Systems: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Transition towards End-to-End Speech-to-Speech models capable of natively and directly controlling prosodic output parameters.</a:t>
            </a:r>
            <a:endParaRPr/>
          </a:p>
        </p:txBody>
      </p:sp>
      <p:sp>
        <p:nvSpPr>
          <p:cNvPr id="280" name="Google Shape;280;p24"/>
          <p:cNvSpPr txBox="1"/>
          <p:nvPr/>
        </p:nvSpPr>
        <p:spPr>
          <a:xfrm>
            <a:off x="571500" y="571500"/>
            <a:ext cx="11601450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2563EB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Conclusions &amp; Future Work</a:t>
            </a:r>
            <a:endParaRPr/>
          </a:p>
        </p:txBody>
      </p:sp>
      <p:pic>
        <p:nvPicPr>
          <p:cNvPr descr="image.png" id="281" name="Google Shape;281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2025" y="2590800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2" name="Google Shape;282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2025" y="3891827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3" name="Google Shape;283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4650" y="2590800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4" name="Google Shape;284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4650" y="3878460"/>
            <a:ext cx="1047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5" name="Google Shape;285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4650" y="4891831"/>
            <a:ext cx="104775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5"/>
          <p:cNvSpPr txBox="1"/>
          <p:nvPr/>
        </p:nvSpPr>
        <p:spPr>
          <a:xfrm>
            <a:off x="2471400" y="1948261"/>
            <a:ext cx="72492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Thank you for your attention !</a:t>
            </a:r>
            <a:endParaRPr/>
          </a:p>
        </p:txBody>
      </p:sp>
      <p:sp>
        <p:nvSpPr>
          <p:cNvPr id="291" name="Google Shape;291;p25"/>
          <p:cNvSpPr txBox="1"/>
          <p:nvPr/>
        </p:nvSpPr>
        <p:spPr>
          <a:xfrm>
            <a:off x="571500" y="5021489"/>
            <a:ext cx="11049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Alessio Bernardini</a:t>
            </a:r>
            <a:endParaRPr/>
          </a:p>
        </p:txBody>
      </p:sp>
      <p:sp>
        <p:nvSpPr>
          <p:cNvPr id="292" name="Google Shape;292;p25"/>
          <p:cNvSpPr txBox="1"/>
          <p:nvPr/>
        </p:nvSpPr>
        <p:spPr>
          <a:xfrm>
            <a:off x="571500" y="5507264"/>
            <a:ext cx="11049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563EB"/>
                </a:solidFill>
                <a:latin typeface="Lato"/>
                <a:ea typeface="Lato"/>
                <a:cs typeface="Lato"/>
                <a:sym typeface="Lato"/>
              </a:rPr>
              <a:t>alessio.bernardini@studenti.unimi.it</a:t>
            </a:r>
            <a:endParaRPr/>
          </a:p>
        </p:txBody>
      </p:sp>
      <p:sp>
        <p:nvSpPr>
          <p:cNvPr id="293" name="Google Shape;293;p25"/>
          <p:cNvSpPr/>
          <p:nvPr/>
        </p:nvSpPr>
        <p:spPr>
          <a:xfrm>
            <a:off x="5619750" y="4729389"/>
            <a:ext cx="952500" cy="192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