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Space Grotesk" panose="020B0604020202020204" charset="0"/>
      <p:regular r:id="rId32"/>
      <p:bold r:id="rId33"/>
    </p:embeddedFont>
    <p:embeddedFont>
      <p:font typeface="Space Grotesk SemiBold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C358D-2EAE-4EC4-A893-64E694181085}">
  <a:tblStyle styleId="{21EC358D-2EAE-4EC4-A893-64E6941810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F93D60-7940-43D1-9BFB-CD4CFB779EE2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41d8b1e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41d8b1e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b0fbb876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cb0fbb876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b0fbb876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cb0fbb876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20365" y="1583084"/>
            <a:ext cx="10151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EmotionLayer</a:t>
            </a:r>
            <a:endParaRPr sz="2600"/>
          </a:p>
        </p:txBody>
      </p:sp>
      <p:sp>
        <p:nvSpPr>
          <p:cNvPr id="87" name="Google Shape;87;p13"/>
          <p:cNvSpPr txBox="1"/>
          <p:nvPr/>
        </p:nvSpPr>
        <p:spPr>
          <a:xfrm>
            <a:off x="1262187" y="2919265"/>
            <a:ext cx="96678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A Multimodal Architecture for Empathic Voice Assistants based on Speech Emotion Recognition and Large Language Models</a:t>
            </a:r>
            <a:endParaRPr>
              <a:solidFill>
                <a:srgbClr val="60A5FA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62062" y="4208115"/>
            <a:ext cx="9667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Alessio Bernardini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62062" y="4570065"/>
            <a:ext cx="966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Department of Computer Science, University of Milan, Italy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262062" y="4874865"/>
            <a:ext cx="966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alessio.bernardini@studenti.unimi.it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20240" y="1127984"/>
            <a:ext cx="10151400" cy="24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EmotionLayer</a:t>
            </a:r>
            <a:r>
              <a:rPr lang="en-US" sz="4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: </a:t>
            </a:r>
            <a:r>
              <a:rPr lang="en-US" sz="46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Multimodal Architecture for Empathic Voice Assistants 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262062" y="3711215"/>
            <a:ext cx="9667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60A5FA"/>
                </a:solidFill>
                <a:latin typeface="Lato"/>
                <a:ea typeface="Lato"/>
                <a:cs typeface="Lato"/>
                <a:sym typeface="Lato"/>
              </a:rPr>
              <a:t>Based on Speech Emotion Recognition and Large Language Models</a:t>
            </a:r>
            <a:endParaRPr sz="2100" b="1">
              <a:solidFill>
                <a:srgbClr val="60A5F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262062" y="4208115"/>
            <a:ext cx="9667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Alessio Bernardini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262062" y="4570065"/>
            <a:ext cx="966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Department of Computer Science, University of Milan, Italy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262062" y="4874865"/>
            <a:ext cx="966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alessio.bernardini@studenti.unimi.it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23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1746888"/>
            <a:ext cx="64197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Current Paradigm: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Traditional voice systems (ASR → LLM → TTS) and newer Speech-to-Speech (STS) models process speech mainly as text, ignoring its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prosodic 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emotional components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2914263"/>
            <a:ext cx="64197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Missing Link: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Valuable paralinguistic information such as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tone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rhythm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hesitations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intensity 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is completely lost during transcription.</a:t>
            </a:r>
            <a:endParaRPr sz="13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5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726134"/>
            <a:ext cx="64197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consequence: 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system “hears” the words but fails to “listen” to the emotional state.</a:t>
            </a:r>
            <a:endParaRPr sz="13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5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Empathic Gap</a:t>
            </a:r>
            <a:endParaRPr/>
          </a:p>
        </p:txBody>
      </p:sp>
      <p:pic>
        <p:nvPicPr>
          <p:cNvPr id="106" name="Google Shape;106;p14" title="sing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4847" y="2093000"/>
            <a:ext cx="616479" cy="616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title="equaliz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7877" y="5042353"/>
            <a:ext cx="707598" cy="7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title="cp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0446" y="3514890"/>
            <a:ext cx="821979" cy="8219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14"/>
          <p:cNvCxnSpPr>
            <a:endCxn id="108" idx="0"/>
          </p:cNvCxnSpPr>
          <p:nvPr/>
        </p:nvCxnSpPr>
        <p:spPr>
          <a:xfrm flipH="1">
            <a:off x="9441436" y="3144990"/>
            <a:ext cx="3300" cy="369900"/>
          </a:xfrm>
          <a:prstGeom prst="straightConnector1">
            <a:avLst/>
          </a:prstGeom>
          <a:noFill/>
          <a:ln w="8050" cap="flat" cmpd="sng">
            <a:solidFill>
              <a:srgbClr val="1F497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4"/>
          <p:cNvCxnSpPr/>
          <p:nvPr/>
        </p:nvCxnSpPr>
        <p:spPr>
          <a:xfrm flipH="1">
            <a:off x="9441439" y="4420135"/>
            <a:ext cx="3300" cy="369900"/>
          </a:xfrm>
          <a:prstGeom prst="straightConnector1">
            <a:avLst/>
          </a:prstGeom>
          <a:noFill/>
          <a:ln w="8050" cap="flat" cmpd="sng">
            <a:solidFill>
              <a:srgbClr val="1F497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111;p14"/>
          <p:cNvSpPr txBox="1"/>
          <p:nvPr/>
        </p:nvSpPr>
        <p:spPr>
          <a:xfrm>
            <a:off x="9852424" y="2219257"/>
            <a:ext cx="9573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ASR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9852424" y="3730536"/>
            <a:ext cx="9573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863764" y="5157839"/>
            <a:ext cx="9573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TTS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7321346" y="2814782"/>
            <a:ext cx="13137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811047" y="4776576"/>
            <a:ext cx="15027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TEXT-TO-SPEECH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765699" y="2745330"/>
            <a:ext cx="15027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175" tIns="77175" rIns="77175" bIns="77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SPEECH-TO-TEXT</a:t>
            </a:r>
            <a:endParaRPr sz="135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999019" y="1401394"/>
            <a:ext cx="3980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Vocal Agent Pipeline</a:t>
            </a:r>
            <a:endParaRPr sz="2500" b="1" i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71500" y="4488955"/>
            <a:ext cx="64197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Real Impact: 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 contexts where understanding the customer’s emotional state is essential, such as customer support, the lack of proper prosodic context leads to standardized, </a:t>
            </a:r>
            <a:r>
              <a:rPr lang="en-US" sz="1350" b="1" i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tone-deaf responses</a:t>
            </a: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, which can cause frustration and dissatisfaction.</a:t>
            </a:r>
            <a:endParaRPr sz="13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5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7936"/>
            <a:ext cx="5286375" cy="502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47936"/>
            <a:ext cx="5286375" cy="502890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62025" y="1738461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Research Questions (RQs)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962025" y="2224236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724650" y="1738461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Contributions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724650" y="2224236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247775" y="2481411"/>
            <a:ext cx="421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RQ1: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How effectively can LLMs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 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respond 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complex emotions using multimodal input (text +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emotional &amp; audio context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)?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47775" y="3721568"/>
            <a:ext cx="421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RQ2: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Which LLM architectures offer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optimal trade-offs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between emotional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intelligence, latency, and cost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production?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010400" y="2481411"/>
            <a:ext cx="421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Italian SER Models: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Fine-tuning of Wav2Vec 2.0 for discrete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 classification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continuous </a:t>
            </a:r>
            <a:r>
              <a:rPr lang="en-US" sz="1350" b="1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PAD regression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010400" y="3612767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EmotionLayer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Architecture: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Fuses text and prosody into a JSON payload ready for downstream LLMs.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7010400" y="4508152"/>
            <a:ext cx="42195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Systematic Benchmark: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Evaluated 18 LLMs on 40 gold-standard scenarios via LLM-as-a-Judge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</a:t>
            </a:r>
            <a:r>
              <a:rPr lang="en-US" sz="1350" b="1" i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 the correct user emotion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take the right decision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481161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Questions &amp; Contributions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7911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81927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257911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71047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605858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47936"/>
            <a:ext cx="5286375" cy="502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47936"/>
            <a:ext cx="5286375" cy="502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62025" y="182880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Ekman's Categorical Model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962025" y="23145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62025" y="2594429"/>
            <a:ext cx="47919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Identifies 6 basic emotions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50" i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anger, disgust, fear, joy, sadness, </a:t>
            </a:r>
            <a:r>
              <a:rPr lang="en-US" sz="1350" i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350" b="1" i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surprise</a:t>
            </a:r>
            <a:endParaRPr sz="1350" b="1" i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6767750" y="2406443"/>
            <a:ext cx="450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067957" y="2565433"/>
            <a:ext cx="421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Valence (V):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Negative (-1) ↔ Positive (+1)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067957" y="2928171"/>
            <a:ext cx="421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Arousal (A):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Calm (-1) ↔ Excited (+1)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067957" y="3302246"/>
            <a:ext cx="421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Dominance (D):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Submissive (-1) ↔ Dominant (+1)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Background </a:t>
            </a: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Emotional Models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1871" y="267447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1703" y="304554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1703" y="341961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 rotWithShape="1">
          <a:blip r:embed="rId6">
            <a:alphaModFix/>
          </a:blip>
          <a:srcRect r="52563"/>
          <a:stretch/>
        </p:blipFill>
        <p:spPr>
          <a:xfrm>
            <a:off x="7944939" y="3891625"/>
            <a:ext cx="2419176" cy="219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 rotWithShape="1">
          <a:blip r:embed="rId6">
            <a:alphaModFix/>
          </a:blip>
          <a:srcRect l="49731"/>
          <a:stretch/>
        </p:blipFill>
        <p:spPr>
          <a:xfrm>
            <a:off x="1884957" y="3809763"/>
            <a:ext cx="2659475" cy="227191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6736682" y="184950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PAD Dimensional Model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6727371" y="2319564"/>
            <a:ext cx="4505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3429000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438275"/>
            <a:ext cx="3429000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438275"/>
            <a:ext cx="3429000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8288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866775" y="2733675"/>
            <a:ext cx="29803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Architectures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66775" y="3143250"/>
            <a:ext cx="2838450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Wav2Vec 2.0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represents the state-of-the-art for self-supervised representations of the speech signal, utilizing advanced Transformer-based architectures.</a:t>
            </a:r>
            <a:endParaRPr/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18288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4676775" y="2733675"/>
            <a:ext cx="29803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Italian Datasets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676775" y="3143250"/>
            <a:ext cx="28386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Resources are limited. We utilize:</a:t>
            </a:r>
            <a:endParaRPr sz="1275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EMOVO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(professional actors),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Emozionalmente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(crowdsourced, 6,902 samples)</a:t>
            </a:r>
            <a:endParaRPr sz="127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AI4SER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(the only Italian dataset with native PAD annotations).</a:t>
            </a:r>
            <a:endParaRPr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18288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8486775" y="2733675"/>
            <a:ext cx="29803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Empathic Benchmarks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486775" y="3143250"/>
            <a:ext cx="2838450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Frameworks like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EQ-Bench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EmotionQueen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evaluate emotional intelligence, empathy generation, and the comprehension of complex dynamics in LLMs.</a:t>
            </a:r>
            <a:endParaRPr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20097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76800" y="20097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29650" y="20097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State of the Art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18624"/>
            <a:ext cx="5286375" cy="16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0299"/>
            <a:ext cx="5290900" cy="16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571500" y="571500"/>
            <a:ext cx="5550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 Architecture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1323175"/>
            <a:ext cx="10309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Parallel Audio Processing: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system analyzes raw audio streams simultaneously to extract distinct emotional vectors.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66321" y="2012736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Discrete Emotion Classifier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66321" y="2498500"/>
            <a:ext cx="43212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Fine-tuned Wav2Vec 2.0 outputs a categorical label (e.g., "Anger: 96%") across 7 primary emotion classes.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582812" y="2001390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PAD Prosodic Regressor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582712" y="2487161"/>
            <a:ext cx="43929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Pruned Wav2Vec 2.0 outputs continuous dimensional values (e.g., Arousal: 0.95, Valence: 0.05, Dominance: 0.90).</a:t>
            </a:r>
            <a:endParaRPr/>
          </a:p>
        </p:txBody>
      </p:sp>
      <p:pic>
        <p:nvPicPr>
          <p:cNvPr id="195" name="Google Shape;1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5409" y="3814248"/>
            <a:ext cx="6461175" cy="25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19"/>
          <p:cNvGraphicFramePr/>
          <p:nvPr/>
        </p:nvGraphicFramePr>
        <p:xfrm>
          <a:off x="581100" y="1416343"/>
          <a:ext cx="11029800" cy="4793600"/>
        </p:xfrm>
        <a:graphic>
          <a:graphicData uri="http://schemas.openxmlformats.org/drawingml/2006/table">
            <a:tbl>
              <a:tblPr firstRow="1" bandRow="1">
                <a:noFill/>
                <a:tableStyleId>{21EC358D-2EAE-4EC4-A893-64E694181085}</a:tableStyleId>
              </a:tblPr>
              <a:tblGrid>
                <a:gridCol w="18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Emotion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Status</a:t>
                      </a:r>
                      <a:endParaRPr sz="1350" b="1" i="0" u="none" strike="noStrike" cap="none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Valence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Arousal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Dominance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Composition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Enthusiasm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&gt;0.6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&gt;0.6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Joy + Surprise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Satisfaction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&gt;0.6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Joy + Good Text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Uncertainty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 + Surprise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Frustration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&lt;0.4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&gt;0.6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Anger + Sadness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Sarcasm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≈0.5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Discrepancy: Text vs Audio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Urgency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&lt;0.4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&gt;0.8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&lt;0.5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 + Anger 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Insecurity</a:t>
                      </a: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&lt;0.4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&lt;0.4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&lt;0.3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Fear + Sadness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2" name="Google Shape;202;p1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Emotion Taxonomy</a:t>
            </a:r>
            <a:endParaRPr/>
          </a:p>
        </p:txBody>
      </p:sp>
      <p:pic>
        <p:nvPicPr>
          <p:cNvPr id="203" name="Google Shape;203;p19" title="ang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939" y="4012293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title="sad-f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52939" y="5192940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title="sad-f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64278" y="5787583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title="happy-fa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1588" y="2210700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title="happy-fa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1588" y="2819325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title="smile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2939" y="3398800"/>
            <a:ext cx="238575" cy="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title="sad-f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52939" y="4591274"/>
            <a:ext cx="238575" cy="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Google Shape;214;p20"/>
          <p:cNvGraphicFramePr/>
          <p:nvPr/>
        </p:nvGraphicFramePr>
        <p:xfrm>
          <a:off x="581013" y="1391093"/>
          <a:ext cx="11029975" cy="4804100"/>
        </p:xfrm>
        <a:graphic>
          <a:graphicData uri="http://schemas.openxmlformats.org/drawingml/2006/table">
            <a:tbl>
              <a:tblPr firstRow="1" bandRow="1">
                <a:noFill/>
                <a:tableStyleId>{21EC358D-2EAE-4EC4-A893-64E694181085}</a:tableStyleId>
              </a:tblPr>
              <a:tblGrid>
                <a:gridCol w="252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Target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Emotion Target</a:t>
                      </a:r>
                      <a:endParaRPr sz="1350" b="1" i="0" u="none" strike="noStrike" cap="none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Tone</a:t>
                      </a:r>
                      <a:endParaRPr sz="1350" b="1" i="0" u="none" strike="noStrike" cap="none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Pitch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Rapid Resolution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Urgency </a:t>
                      </a:r>
                      <a:endParaRPr sz="135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1.25x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Professional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default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Assertive Neutrality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Sarcasm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Professional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Active De-escalation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Anger, Frustration, Disgust</a:t>
                      </a:r>
                      <a:endParaRPr sz="135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Apologetic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Empathic Validation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Uncertainty, Insecurity, Sadness</a:t>
                      </a:r>
                      <a:endParaRPr sz="135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Empathetic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Positive Mirroring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Enthusiasm, Satisfaction, Joy</a:t>
                      </a:r>
                      <a:endParaRPr sz="135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1.10x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Cheerful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 Efficiency</a:t>
                      </a:r>
                      <a:endParaRPr sz="1350" b="1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Neutral</a:t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Informative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balance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" name="Google Shape;215;p2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Strategy Taxonomy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450" y="803275"/>
            <a:ext cx="4479025" cy="5653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71500" y="1545268"/>
            <a:ext cx="5948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evaluated 18 candidate LLMs over 40 gold-standard scenarios using an automated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LLM-as-a-Judge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methodology (by Claude Opus 4.6).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450" y="2400308"/>
            <a:ext cx="555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Binary Metrics (40% Weight)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3852220"/>
            <a:ext cx="555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Continuous Metrics (60% Weight, Scale 1-5)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215500" y="2823075"/>
            <a:ext cx="51231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Emotion Match (0/1):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Correctly identifying the emotion from multimodal JSON.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225750" y="3429574"/>
            <a:ext cx="5123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Strategy Match (0/1):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Selecting the appropriate strategy.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71250" y="4317493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Relevance: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Technical accuracy of the response.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171250" y="4623533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TTS Alignment: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Consistency of TTS parameters (speed/pitch).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171250" y="5317256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Voice Suitability: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Conciseness and conversational naturalness.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171250" y="5908926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Empathic Response: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Overall quality of empathy expressed.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450" y="566739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Framework</a:t>
            </a:r>
            <a:endParaRPr/>
          </a:p>
        </p:txBody>
      </p:sp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250" y="294044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654" y="35303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5471" y="441945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639" y="474498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335" y="543613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996" y="6016464"/>
            <a:ext cx="104775" cy="180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" name="Google Shape;237;p21"/>
          <p:cNvGraphicFramePr/>
          <p:nvPr/>
        </p:nvGraphicFramePr>
        <p:xfrm>
          <a:off x="7475262" y="966957"/>
          <a:ext cx="3923425" cy="5320000"/>
        </p:xfrm>
        <a:graphic>
          <a:graphicData uri="http://schemas.openxmlformats.org/drawingml/2006/table">
            <a:tbl>
              <a:tblPr firstRow="1" bandRow="1">
                <a:noFill/>
                <a:tableStyleId>{21EC358D-2EAE-4EC4-A893-64E694181085}</a:tableStyleId>
              </a:tblPr>
              <a:tblGrid>
                <a:gridCol w="200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Model</a:t>
                      </a: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Provider</a:t>
                      </a: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 </a:t>
                      </a:r>
                      <a:endParaRPr sz="1350" b="1" i="0" u="none" strike="noStrike" cap="none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Gpt-5-mini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OpenAI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Gpt-5.2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OpenAI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Gpt-4.1-mini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OpenAI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Gpt-4.1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OpenAI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Qwen2.5-7B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Qwen2.5-72B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Mistral-7B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Gpt-oss-120b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Gpt-oss-20b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LLama-3.1-8b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LLama-3.3-70b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Qwen3-32b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Claude-sonnet-4-5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Claude-haiku-4-5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Claude-opus-4-5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 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Gemini-2.5-flash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Google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Gemini-2.5-pro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Google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Gemini-2.5-flash-lite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Google</a:t>
                      </a:r>
                      <a:endParaRPr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Performance Results</a:t>
            </a:r>
            <a:endParaRPr sz="3000">
              <a:solidFill>
                <a:srgbClr val="2563EB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aphicFrame>
        <p:nvGraphicFramePr>
          <p:cNvPr id="243" name="Google Shape;243;p22"/>
          <p:cNvGraphicFramePr/>
          <p:nvPr>
            <p:extLst>
              <p:ext uri="{D42A27DB-BD31-4B8C-83A1-F6EECF244321}">
                <p14:modId xmlns:p14="http://schemas.microsoft.com/office/powerpoint/2010/main" val="2792435379"/>
              </p:ext>
            </p:extLst>
          </p:nvPr>
        </p:nvGraphicFramePr>
        <p:xfrm>
          <a:off x="548821" y="1306739"/>
          <a:ext cx="10814500" cy="5124750"/>
        </p:xfrm>
        <a:graphic>
          <a:graphicData uri="http://schemas.openxmlformats.org/drawingml/2006/table">
            <a:tbl>
              <a:tblPr firstRow="1" bandRow="1">
                <a:noFill/>
                <a:tableStyleId>{25F93D60-7940-43D1-9BFB-CD4CFB779EE2}</a:tableStyleId>
              </a:tblPr>
              <a:tblGrid>
                <a:gridCol w="182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Provider</a:t>
                      </a:r>
                      <a:endParaRPr b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Models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Score</a:t>
                      </a:r>
                      <a:endParaRPr sz="135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 err="1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Latenza</a:t>
                      </a:r>
                      <a:r>
                        <a:rPr lang="en-US" sz="1350" dirty="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 (s)</a:t>
                      </a:r>
                      <a:endParaRPr sz="1350" dirty="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>
                          <a:solidFill>
                            <a:srgbClr val="2563E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Costo ($)</a:t>
                      </a:r>
                      <a:endParaRPr sz="1350" dirty="0">
                        <a:solidFill>
                          <a:srgbClr val="2563E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Gemini  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90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gemini-2.5-flash</a:t>
                      </a:r>
                      <a:endParaRPr sz="1300" b="1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4.328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0.001000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143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Gemini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90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gemini-2.5-pro</a:t>
                      </a:r>
                      <a:endParaRPr sz="13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90.50</a:t>
                      </a:r>
                      <a:endParaRPr sz="1300"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10.617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0.003944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gpt-4.1-2025-04-14</a:t>
                      </a:r>
                      <a:endParaRPr sz="1300" b="1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90.30</a:t>
                      </a:r>
                      <a:endParaRPr sz="1300" b="1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3.769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0.004647</a:t>
                      </a:r>
                      <a:endParaRPr sz="1300" dirty="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claude-sonnet-4-5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89.46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8.475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0.010305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claude-opus-4-5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87.64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8.270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0.016995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openai/gpt-oss-120b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87.10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1.594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0.000633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qwen/qwen3-32b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86.20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1.623</a:t>
                      </a:r>
                      <a:endParaRPr sz="130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0.000819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Qwen2.5-72B-Instruct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85.60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8.927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0.000647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gemini-2.5-flash-lite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85.40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1.494</a:t>
                      </a:r>
                      <a:endParaRPr sz="130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0.000235</a:t>
                      </a:r>
                      <a:endParaRPr sz="1300" b="1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openai/gpt-oss-20b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84.00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1.041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0.000364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gpt-4.1-mini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82.75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3.362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0.000909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llama-3.3-70b-versatile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82.60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0.758</a:t>
                      </a:r>
                      <a:endParaRPr sz="13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0.001051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gpt-5-mini-2025-08-07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80.30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19.667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0.003060</a:t>
                      </a:r>
                      <a:endParaRPr sz="13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claude-haiku-4-5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80.06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3.909</a:t>
                      </a:r>
                      <a:endParaRPr sz="13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0.003355</a:t>
                      </a:r>
                      <a:endParaRPr sz="13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Stella a 5 punte 1">
            <a:extLst>
              <a:ext uri="{FF2B5EF4-FFF2-40B4-BE49-F238E27FC236}">
                <a16:creationId xmlns:a16="http://schemas.microsoft.com/office/drawing/2014/main" id="{31DEE4AF-DA1F-7363-A3BF-A77F988F3A79}"/>
              </a:ext>
            </a:extLst>
          </p:cNvPr>
          <p:cNvSpPr/>
          <p:nvPr/>
        </p:nvSpPr>
        <p:spPr>
          <a:xfrm>
            <a:off x="689489" y="1779638"/>
            <a:ext cx="57763" cy="688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FF00"/>
              </a:solidFill>
            </a:endParaRPr>
          </a:p>
        </p:txBody>
      </p:sp>
      <p:sp>
        <p:nvSpPr>
          <p:cNvPr id="3" name="Stella a 5 punte 2">
            <a:extLst>
              <a:ext uri="{FF2B5EF4-FFF2-40B4-BE49-F238E27FC236}">
                <a16:creationId xmlns:a16="http://schemas.microsoft.com/office/drawing/2014/main" id="{9D9843CE-51C5-0AEF-CDDC-9EF569A17EF2}"/>
              </a:ext>
            </a:extLst>
          </p:cNvPr>
          <p:cNvSpPr/>
          <p:nvPr/>
        </p:nvSpPr>
        <p:spPr>
          <a:xfrm>
            <a:off x="689488" y="2122005"/>
            <a:ext cx="57763" cy="688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FF00"/>
              </a:solidFill>
            </a:endParaRPr>
          </a:p>
        </p:txBody>
      </p:sp>
      <p:sp>
        <p:nvSpPr>
          <p:cNvPr id="4" name="Stella a 5 punte 3">
            <a:extLst>
              <a:ext uri="{FF2B5EF4-FFF2-40B4-BE49-F238E27FC236}">
                <a16:creationId xmlns:a16="http://schemas.microsoft.com/office/drawing/2014/main" id="{DABF3CC5-242C-2324-1A7D-7C4AE1EB62DE}"/>
              </a:ext>
            </a:extLst>
          </p:cNvPr>
          <p:cNvSpPr/>
          <p:nvPr/>
        </p:nvSpPr>
        <p:spPr>
          <a:xfrm>
            <a:off x="689487" y="2464372"/>
            <a:ext cx="57763" cy="688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FF00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9C7E04-0333-F3F0-E81C-6AEFB429184D}"/>
              </a:ext>
            </a:extLst>
          </p:cNvPr>
          <p:cNvSpPr txBox="1"/>
          <p:nvPr/>
        </p:nvSpPr>
        <p:spPr>
          <a:xfrm>
            <a:off x="5159208" y="1671483"/>
            <a:ext cx="636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91.70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76400"/>
            <a:ext cx="3479750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6050" y="1676400"/>
            <a:ext cx="3479750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0600" y="1676400"/>
            <a:ext cx="3479899" cy="34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095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857250" y="3086100"/>
            <a:ext cx="305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Leadership Gemini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857250" y="3514725"/>
            <a:ext cx="29082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Gemini 2.5 Flash-Preview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(91.70) and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(90.50) dominate in terms of quality, achieving the highest overall scores and even outperforming OpenAI solutions.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1800" y="2095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4641800" y="3086100"/>
            <a:ext cx="305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Extreme Speed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641800" y="3514725"/>
            <a:ext cx="29082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Groq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infrastructure remains unrivalled in terms of latency. The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llama-3.1-8b-instant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model achieves record-breaking minimum response times of just 0.511 seconds.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6350" y="2095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8426350" y="3086100"/>
            <a:ext cx="305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Cost Efficiency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426350" y="3514725"/>
            <a:ext cx="2908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Gemini 2.5 Flash-Lite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stands out for its exceptional value for money: a solid score (85.40) combined with extremely low operating costs ($0.000235).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0" name="Google Shape;260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3937" y="22860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32300" y="2286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93038" y="22860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Performance Results</a:t>
            </a:r>
            <a:endParaRPr sz="3000">
              <a:solidFill>
                <a:srgbClr val="2563EB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5286375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38275"/>
            <a:ext cx="5286375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962025" y="18288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Conclusions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962025" y="23145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6724650" y="18288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Future Work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6724650" y="23145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1247775" y="2571750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Bridging the Gap: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Solving the "Empathic Gap" in voice assistants is technically viable in production by injecting paralinguistic data pre-LLM.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1247775" y="3838759"/>
            <a:ext cx="42195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Voice Suitability Matters: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LLMs optimized purely for complex reasoning (e.g., GPT-5) often generate overly verbose text that ruins conversational TTS naturalness.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7010400" y="2571750"/>
            <a:ext cx="42195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 Improvements: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Enhance the current Speech Emotion Recognition accuracy (66.81%) by fine-tuning on spontaneous, non-acted speech datasets.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7010400" y="3859410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Human Evaluation: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Expand the LLM benchmark with multi-rater human evaluations on live interactions.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7010400" y="4872781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E2E Systems: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Transition towards End-to-End Speech-to-Speech models capable of natively and directly controlling prosodic output parameters.</a:t>
            </a:r>
            <a:endParaRPr dirty="0"/>
          </a:p>
        </p:txBody>
      </p:sp>
      <p:sp>
        <p:nvSpPr>
          <p:cNvPr id="280" name="Google Shape;280;p2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Conclusions &amp; Future Work</a:t>
            </a:r>
            <a:endParaRPr/>
          </a:p>
        </p:txBody>
      </p:sp>
      <p:pic>
        <p:nvPicPr>
          <p:cNvPr id="281" name="Google Shape;28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857" y="267929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857" y="398031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482" y="268912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482" y="397678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482" y="4990154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/>
        </p:nvSpPr>
        <p:spPr>
          <a:xfrm>
            <a:off x="2471400" y="1948261"/>
            <a:ext cx="72492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 for your attention !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571500" y="5021489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Alessio Bernardini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571500" y="5507264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alessio.bernardini@studenti.unimi.it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619750" y="4729389"/>
            <a:ext cx="9525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1117</Words>
  <Application>Microsoft Office PowerPoint</Application>
  <PresentationFormat>Widescreen</PresentationFormat>
  <Paragraphs>273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2" baseType="lpstr">
      <vt:lpstr>Lato</vt:lpstr>
      <vt:lpstr>Space Grotesk SemiBold</vt:lpstr>
      <vt:lpstr>Poppins</vt:lpstr>
      <vt:lpstr>Arial</vt:lpstr>
      <vt:lpstr>Space Grotesk</vt:lpstr>
      <vt:lpstr>Montserrat</vt:lpstr>
      <vt:lpstr>Calibri</vt:lpstr>
      <vt:lpstr>Inter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Roberto.Bernardini</cp:lastModifiedBy>
  <cp:revision>7</cp:revision>
  <dcterms:modified xsi:type="dcterms:W3CDTF">2026-02-27T11:50:26Z</dcterms:modified>
</cp:coreProperties>
</file>